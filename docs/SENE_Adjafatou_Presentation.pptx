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7857060-746E-4B74-8C15-E259DED7AE1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Section sans titre" id="{4F3F5F99-ECFA-49A0-9F30-598593A67176}">
          <p14:sldIdLst>
            <p14:sldId id="264"/>
            <p14:sldId id="265"/>
            <p14:sldId id="266"/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B05F"/>
    <a:srgbClr val="C6B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0CF348-57F9-4DB4-96A1-DD29AA044D30}" type="doc">
      <dgm:prSet loTypeId="urn:microsoft.com/office/officeart/2008/layout/BendingPictureSemiTransparentText" loCatId="pictur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944C2E2-95E0-4A01-BE4D-92F74050B482}">
      <dgm:prSet phldrT="[Texte]" phldr="1"/>
      <dgm:spPr/>
      <dgm:t>
        <a:bodyPr/>
        <a:lstStyle/>
        <a:p>
          <a:endParaRPr lang="fr-FR"/>
        </a:p>
      </dgm:t>
    </dgm:pt>
    <dgm:pt modelId="{D4F27B62-1B7F-4D13-AB8C-357E949815B4}" type="parTrans" cxnId="{852B2C05-1769-46AF-9D5E-BED640DE5A77}">
      <dgm:prSet/>
      <dgm:spPr/>
      <dgm:t>
        <a:bodyPr/>
        <a:lstStyle/>
        <a:p>
          <a:endParaRPr lang="fr-FR"/>
        </a:p>
      </dgm:t>
    </dgm:pt>
    <dgm:pt modelId="{21FAC8EA-21D4-4DC5-B815-146FCC4B6AE1}" type="sibTrans" cxnId="{852B2C05-1769-46AF-9D5E-BED640DE5A77}">
      <dgm:prSet/>
      <dgm:spPr/>
      <dgm:t>
        <a:bodyPr/>
        <a:lstStyle/>
        <a:p>
          <a:endParaRPr lang="fr-FR"/>
        </a:p>
      </dgm:t>
    </dgm:pt>
    <dgm:pt modelId="{C678E2A2-A4B2-4345-AD93-96C78B2B754F}">
      <dgm:prSet phldrT="[Texte]" phldr="1"/>
      <dgm:spPr/>
      <dgm:t>
        <a:bodyPr/>
        <a:lstStyle/>
        <a:p>
          <a:endParaRPr lang="fr-FR"/>
        </a:p>
      </dgm:t>
    </dgm:pt>
    <dgm:pt modelId="{67D93EE8-B095-42CF-94F4-FB019E8B4C20}" type="parTrans" cxnId="{AE59AF9B-0A74-4E3D-876B-95C15A2F018C}">
      <dgm:prSet/>
      <dgm:spPr/>
      <dgm:t>
        <a:bodyPr/>
        <a:lstStyle/>
        <a:p>
          <a:endParaRPr lang="fr-FR"/>
        </a:p>
      </dgm:t>
    </dgm:pt>
    <dgm:pt modelId="{92292055-EB89-4648-BB6C-C210FC45F1E8}" type="sibTrans" cxnId="{AE59AF9B-0A74-4E3D-876B-95C15A2F018C}">
      <dgm:prSet/>
      <dgm:spPr/>
      <dgm:t>
        <a:bodyPr/>
        <a:lstStyle/>
        <a:p>
          <a:endParaRPr lang="fr-FR"/>
        </a:p>
      </dgm:t>
    </dgm:pt>
    <dgm:pt modelId="{501317E8-BC21-4412-ABE6-4D8889B267BB}">
      <dgm:prSet phldrT="[Texte]" phldr="1"/>
      <dgm:spPr/>
      <dgm:t>
        <a:bodyPr/>
        <a:lstStyle/>
        <a:p>
          <a:endParaRPr lang="fr-FR"/>
        </a:p>
      </dgm:t>
    </dgm:pt>
    <dgm:pt modelId="{818CB461-5FFB-4294-B0E4-011DAFFAEE5B}" type="parTrans" cxnId="{6E43B161-8312-486C-9105-EBEFBB24E8DF}">
      <dgm:prSet/>
      <dgm:spPr/>
      <dgm:t>
        <a:bodyPr/>
        <a:lstStyle/>
        <a:p>
          <a:endParaRPr lang="fr-FR"/>
        </a:p>
      </dgm:t>
    </dgm:pt>
    <dgm:pt modelId="{46405DF2-2A78-4900-AD82-719376CE3CCB}" type="sibTrans" cxnId="{6E43B161-8312-486C-9105-EBEFBB24E8DF}">
      <dgm:prSet/>
      <dgm:spPr/>
      <dgm:t>
        <a:bodyPr/>
        <a:lstStyle/>
        <a:p>
          <a:endParaRPr lang="fr-FR"/>
        </a:p>
      </dgm:t>
    </dgm:pt>
    <dgm:pt modelId="{F2579527-15C4-41D1-913E-C3B6489A28BD}">
      <dgm:prSet phldrT="[Texte]" phldr="1"/>
      <dgm:spPr/>
      <dgm:t>
        <a:bodyPr/>
        <a:lstStyle/>
        <a:p>
          <a:endParaRPr lang="fr-FR"/>
        </a:p>
      </dgm:t>
    </dgm:pt>
    <dgm:pt modelId="{7374BC53-F611-4FC5-A7AB-70E8C063DEB3}" type="parTrans" cxnId="{A89D9938-D244-489C-BA0C-4890287D8955}">
      <dgm:prSet/>
      <dgm:spPr/>
      <dgm:t>
        <a:bodyPr/>
        <a:lstStyle/>
        <a:p>
          <a:endParaRPr lang="fr-FR"/>
        </a:p>
      </dgm:t>
    </dgm:pt>
    <dgm:pt modelId="{5F4CD4FE-7B2C-4826-990C-62F6054C977F}" type="sibTrans" cxnId="{A89D9938-D244-489C-BA0C-4890287D8955}">
      <dgm:prSet/>
      <dgm:spPr/>
      <dgm:t>
        <a:bodyPr/>
        <a:lstStyle/>
        <a:p>
          <a:endParaRPr lang="fr-FR"/>
        </a:p>
      </dgm:t>
    </dgm:pt>
    <dgm:pt modelId="{47E21A24-4576-4963-AAA2-7363B9D20C59}">
      <dgm:prSet/>
      <dgm:spPr/>
      <dgm:t>
        <a:bodyPr/>
        <a:lstStyle/>
        <a:p>
          <a:endParaRPr lang="fr-FR"/>
        </a:p>
      </dgm:t>
    </dgm:pt>
    <dgm:pt modelId="{2D56D1A7-33A0-49A0-A2A4-D67963E9BF49}" type="parTrans" cxnId="{950EB926-A032-4613-ABB3-DA1600A7E2B3}">
      <dgm:prSet/>
      <dgm:spPr/>
      <dgm:t>
        <a:bodyPr/>
        <a:lstStyle/>
        <a:p>
          <a:endParaRPr lang="fr-FR"/>
        </a:p>
      </dgm:t>
    </dgm:pt>
    <dgm:pt modelId="{4FF661BF-8BE1-4316-BB7F-AE07C7ECC125}" type="sibTrans" cxnId="{950EB926-A032-4613-ABB3-DA1600A7E2B3}">
      <dgm:prSet/>
      <dgm:spPr/>
      <dgm:t>
        <a:bodyPr/>
        <a:lstStyle/>
        <a:p>
          <a:endParaRPr lang="fr-FR"/>
        </a:p>
      </dgm:t>
    </dgm:pt>
    <dgm:pt modelId="{F410E183-20AE-4B8D-AAED-09D07641DFBF}" type="pres">
      <dgm:prSet presAssocID="{C40CF348-57F9-4DB4-96A1-DD29AA044D30}" presName="Name0" presStyleCnt="0">
        <dgm:presLayoutVars>
          <dgm:dir/>
          <dgm:resizeHandles val="exact"/>
        </dgm:presLayoutVars>
      </dgm:prSet>
      <dgm:spPr/>
    </dgm:pt>
    <dgm:pt modelId="{9748F1F0-4581-472C-915E-31C5F77E2E9B}" type="pres">
      <dgm:prSet presAssocID="{2944C2E2-95E0-4A01-BE4D-92F74050B482}" presName="composite" presStyleCnt="0"/>
      <dgm:spPr/>
    </dgm:pt>
    <dgm:pt modelId="{070CEE1D-CC01-4317-9470-074BE49E9052}" type="pres">
      <dgm:prSet presAssocID="{2944C2E2-95E0-4A01-BE4D-92F74050B482}" presName="rect1" presStyleLbl="bgShp" presStyleIdx="0" presStyleCnt="5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614B28C-EEB6-4387-980A-427261DFCE22}" type="pres">
      <dgm:prSet presAssocID="{2944C2E2-95E0-4A01-BE4D-92F74050B482}" presName="rect2" presStyleLbl="trBgShp" presStyleIdx="0" presStyleCnt="5" custFlipVert="0" custFlipHor="0" custScaleX="100403" custScaleY="7531">
        <dgm:presLayoutVars>
          <dgm:bulletEnabled val="1"/>
        </dgm:presLayoutVars>
      </dgm:prSet>
      <dgm:spPr/>
    </dgm:pt>
    <dgm:pt modelId="{8166A3F1-CD31-4AFC-80B9-04647B00825D}" type="pres">
      <dgm:prSet presAssocID="{21FAC8EA-21D4-4DC5-B815-146FCC4B6AE1}" presName="sibTrans" presStyleCnt="0"/>
      <dgm:spPr/>
    </dgm:pt>
    <dgm:pt modelId="{851DCC6F-9057-43E1-A074-AF5D8ACD9D51}" type="pres">
      <dgm:prSet presAssocID="{C678E2A2-A4B2-4345-AD93-96C78B2B754F}" presName="composite" presStyleCnt="0"/>
      <dgm:spPr/>
    </dgm:pt>
    <dgm:pt modelId="{3AE99EB3-5984-4B6E-9BDA-44EC561EFC1A}" type="pres">
      <dgm:prSet presAssocID="{C678E2A2-A4B2-4345-AD93-96C78B2B754F}" presName="rect1" presStyleLbl="bgShp" presStyleIdx="1" presStyleCnt="5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01A19CB-0A3D-4C34-8269-4CB578592BAF}" type="pres">
      <dgm:prSet presAssocID="{C678E2A2-A4B2-4345-AD93-96C78B2B754F}" presName="rect2" presStyleLbl="trBgShp" presStyleIdx="1" presStyleCnt="5" custFlipVert="0" custFlipHor="0" custScaleX="46631" custScaleY="13333">
        <dgm:presLayoutVars>
          <dgm:bulletEnabled val="1"/>
        </dgm:presLayoutVars>
      </dgm:prSet>
      <dgm:spPr/>
    </dgm:pt>
    <dgm:pt modelId="{C2859F05-8949-4792-87CC-67CB0F5C9D8E}" type="pres">
      <dgm:prSet presAssocID="{92292055-EB89-4648-BB6C-C210FC45F1E8}" presName="sibTrans" presStyleCnt="0"/>
      <dgm:spPr/>
    </dgm:pt>
    <dgm:pt modelId="{B5DADBEF-47D5-4D56-AF30-79D5C0EE06B0}" type="pres">
      <dgm:prSet presAssocID="{501317E8-BC21-4412-ABE6-4D8889B267BB}" presName="composite" presStyleCnt="0"/>
      <dgm:spPr/>
    </dgm:pt>
    <dgm:pt modelId="{2BB32946-4EEE-471B-941D-A2E29FD2F003}" type="pres">
      <dgm:prSet presAssocID="{501317E8-BC21-4412-ABE6-4D8889B267BB}" presName="rect1" presStyleLbl="bgShp" presStyleIdx="2" presStyleCnt="5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BDA9A8E-1C93-4A7A-B2BD-405D23DCD4CB}" type="pres">
      <dgm:prSet presAssocID="{501317E8-BC21-4412-ABE6-4D8889B267BB}" presName="rect2" presStyleLbl="trBgShp" presStyleIdx="2" presStyleCnt="5" custScaleX="29027" custScaleY="7531">
        <dgm:presLayoutVars>
          <dgm:bulletEnabled val="1"/>
        </dgm:presLayoutVars>
      </dgm:prSet>
      <dgm:spPr/>
    </dgm:pt>
    <dgm:pt modelId="{C3D7FE05-72C7-44EA-944C-6D7230753BB3}" type="pres">
      <dgm:prSet presAssocID="{46405DF2-2A78-4900-AD82-719376CE3CCB}" presName="sibTrans" presStyleCnt="0"/>
      <dgm:spPr/>
    </dgm:pt>
    <dgm:pt modelId="{18C342A4-E924-484D-97E6-DB5B01E777E6}" type="pres">
      <dgm:prSet presAssocID="{F2579527-15C4-41D1-913E-C3B6489A28BD}" presName="composite" presStyleCnt="0"/>
      <dgm:spPr/>
    </dgm:pt>
    <dgm:pt modelId="{C578B9BA-7C12-41BE-AC92-E0B88A910058}" type="pres">
      <dgm:prSet presAssocID="{F2579527-15C4-41D1-913E-C3B6489A28BD}" presName="rect1" presStyleLbl="bgShp" presStyleIdx="3" presStyleCnt="5"/>
      <dgm:spPr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5059468-6C44-4D7F-954B-23DA7D2D4095}" type="pres">
      <dgm:prSet presAssocID="{F2579527-15C4-41D1-913E-C3B6489A28BD}" presName="rect2" presStyleLbl="trBgShp" presStyleIdx="3" presStyleCnt="5" custFlipVert="1" custScaleX="4918" custScaleY="34278">
        <dgm:presLayoutVars>
          <dgm:bulletEnabled val="1"/>
        </dgm:presLayoutVars>
      </dgm:prSet>
      <dgm:spPr/>
    </dgm:pt>
    <dgm:pt modelId="{EB4A469A-BFFE-4097-98B8-E511BCB569A7}" type="pres">
      <dgm:prSet presAssocID="{5F4CD4FE-7B2C-4826-990C-62F6054C977F}" presName="sibTrans" presStyleCnt="0"/>
      <dgm:spPr/>
    </dgm:pt>
    <dgm:pt modelId="{90882596-B051-4DA3-8E5E-D544117E0560}" type="pres">
      <dgm:prSet presAssocID="{47E21A24-4576-4963-AAA2-7363B9D20C59}" presName="composite" presStyleCnt="0"/>
      <dgm:spPr/>
    </dgm:pt>
    <dgm:pt modelId="{67E4385F-1F4C-4DED-8714-9141C9273BB7}" type="pres">
      <dgm:prSet presAssocID="{47E21A24-4576-4963-AAA2-7363B9D20C59}" presName="rect1" presStyleLbl="bgShp" presStyleIdx="4" presStyleCnt="5"/>
      <dgm:spPr>
        <a:blipFill dpi="0"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8307788C-3AF3-4F48-A682-C1D8A6FCBCAC}" type="pres">
      <dgm:prSet presAssocID="{47E21A24-4576-4963-AAA2-7363B9D20C59}" presName="rect2" presStyleLbl="trBgShp" presStyleIdx="4" presStyleCnt="5" custFlipVert="1" custFlipHor="1" custScaleX="1549" custScaleY="7531">
        <dgm:presLayoutVars>
          <dgm:bulletEnabled val="1"/>
        </dgm:presLayoutVars>
      </dgm:prSet>
      <dgm:spPr/>
    </dgm:pt>
  </dgm:ptLst>
  <dgm:cxnLst>
    <dgm:cxn modelId="{D8F1A23E-AEE3-4D52-A233-3C9830028D29}" type="presOf" srcId="{F2579527-15C4-41D1-913E-C3B6489A28BD}" destId="{55059468-6C44-4D7F-954B-23DA7D2D4095}" srcOrd="0" destOrd="0" presId="urn:microsoft.com/office/officeart/2008/layout/BendingPictureSemiTransparentText"/>
    <dgm:cxn modelId="{83422E88-879C-4C30-A1AC-9BBA145E4C85}" type="presOf" srcId="{C678E2A2-A4B2-4345-AD93-96C78B2B754F}" destId="{B01A19CB-0A3D-4C34-8269-4CB578592BAF}" srcOrd="0" destOrd="0" presId="urn:microsoft.com/office/officeart/2008/layout/BendingPictureSemiTransparentText"/>
    <dgm:cxn modelId="{6E43B161-8312-486C-9105-EBEFBB24E8DF}" srcId="{C40CF348-57F9-4DB4-96A1-DD29AA044D30}" destId="{501317E8-BC21-4412-ABE6-4D8889B267BB}" srcOrd="2" destOrd="0" parTransId="{818CB461-5FFB-4294-B0E4-011DAFFAEE5B}" sibTransId="{46405DF2-2A78-4900-AD82-719376CE3CCB}"/>
    <dgm:cxn modelId="{DE402E3C-0150-4BF8-A551-62A7D9174A9B}" type="presOf" srcId="{47E21A24-4576-4963-AAA2-7363B9D20C59}" destId="{8307788C-3AF3-4F48-A682-C1D8A6FCBCAC}" srcOrd="0" destOrd="0" presId="urn:microsoft.com/office/officeart/2008/layout/BendingPictureSemiTransparentText"/>
    <dgm:cxn modelId="{9B3BE68D-DE85-4E07-B859-29B38700A7EA}" type="presOf" srcId="{501317E8-BC21-4412-ABE6-4D8889B267BB}" destId="{6BDA9A8E-1C93-4A7A-B2BD-405D23DCD4CB}" srcOrd="0" destOrd="0" presId="urn:microsoft.com/office/officeart/2008/layout/BendingPictureSemiTransparentText"/>
    <dgm:cxn modelId="{FA0F9AF6-C9CF-4A3D-B53F-8176481DFD24}" type="presOf" srcId="{2944C2E2-95E0-4A01-BE4D-92F74050B482}" destId="{B614B28C-EEB6-4387-980A-427261DFCE22}" srcOrd="0" destOrd="0" presId="urn:microsoft.com/office/officeart/2008/layout/BendingPictureSemiTransparentText"/>
    <dgm:cxn modelId="{852B2C05-1769-46AF-9D5E-BED640DE5A77}" srcId="{C40CF348-57F9-4DB4-96A1-DD29AA044D30}" destId="{2944C2E2-95E0-4A01-BE4D-92F74050B482}" srcOrd="0" destOrd="0" parTransId="{D4F27B62-1B7F-4D13-AB8C-357E949815B4}" sibTransId="{21FAC8EA-21D4-4DC5-B815-146FCC4B6AE1}"/>
    <dgm:cxn modelId="{733310B7-A843-403F-A5F3-B2D8F68647EB}" type="presOf" srcId="{C40CF348-57F9-4DB4-96A1-DD29AA044D30}" destId="{F410E183-20AE-4B8D-AAED-09D07641DFBF}" srcOrd="0" destOrd="0" presId="urn:microsoft.com/office/officeart/2008/layout/BendingPictureSemiTransparentText"/>
    <dgm:cxn modelId="{AE59AF9B-0A74-4E3D-876B-95C15A2F018C}" srcId="{C40CF348-57F9-4DB4-96A1-DD29AA044D30}" destId="{C678E2A2-A4B2-4345-AD93-96C78B2B754F}" srcOrd="1" destOrd="0" parTransId="{67D93EE8-B095-42CF-94F4-FB019E8B4C20}" sibTransId="{92292055-EB89-4648-BB6C-C210FC45F1E8}"/>
    <dgm:cxn modelId="{950EB926-A032-4613-ABB3-DA1600A7E2B3}" srcId="{C40CF348-57F9-4DB4-96A1-DD29AA044D30}" destId="{47E21A24-4576-4963-AAA2-7363B9D20C59}" srcOrd="4" destOrd="0" parTransId="{2D56D1A7-33A0-49A0-A2A4-D67963E9BF49}" sibTransId="{4FF661BF-8BE1-4316-BB7F-AE07C7ECC125}"/>
    <dgm:cxn modelId="{A89D9938-D244-489C-BA0C-4890287D8955}" srcId="{C40CF348-57F9-4DB4-96A1-DD29AA044D30}" destId="{F2579527-15C4-41D1-913E-C3B6489A28BD}" srcOrd="3" destOrd="0" parTransId="{7374BC53-F611-4FC5-A7AB-70E8C063DEB3}" sibTransId="{5F4CD4FE-7B2C-4826-990C-62F6054C977F}"/>
    <dgm:cxn modelId="{4126F2B3-D468-4086-9F99-A9CF90C184EA}" type="presParOf" srcId="{F410E183-20AE-4B8D-AAED-09D07641DFBF}" destId="{9748F1F0-4581-472C-915E-31C5F77E2E9B}" srcOrd="0" destOrd="0" presId="urn:microsoft.com/office/officeart/2008/layout/BendingPictureSemiTransparentText"/>
    <dgm:cxn modelId="{FC27E9E5-1370-451D-A067-F42591841844}" type="presParOf" srcId="{9748F1F0-4581-472C-915E-31C5F77E2E9B}" destId="{070CEE1D-CC01-4317-9470-074BE49E9052}" srcOrd="0" destOrd="0" presId="urn:microsoft.com/office/officeart/2008/layout/BendingPictureSemiTransparentText"/>
    <dgm:cxn modelId="{18BF8BBA-8106-449D-B231-E956A9CF81CA}" type="presParOf" srcId="{9748F1F0-4581-472C-915E-31C5F77E2E9B}" destId="{B614B28C-EEB6-4387-980A-427261DFCE22}" srcOrd="1" destOrd="0" presId="urn:microsoft.com/office/officeart/2008/layout/BendingPictureSemiTransparentText"/>
    <dgm:cxn modelId="{18356565-8BD2-4EBD-BB6D-F908DBFABC61}" type="presParOf" srcId="{F410E183-20AE-4B8D-AAED-09D07641DFBF}" destId="{8166A3F1-CD31-4AFC-80B9-04647B00825D}" srcOrd="1" destOrd="0" presId="urn:microsoft.com/office/officeart/2008/layout/BendingPictureSemiTransparentText"/>
    <dgm:cxn modelId="{507F8DD1-86B7-4014-B368-2BD8BCCEC517}" type="presParOf" srcId="{F410E183-20AE-4B8D-AAED-09D07641DFBF}" destId="{851DCC6F-9057-43E1-A074-AF5D8ACD9D51}" srcOrd="2" destOrd="0" presId="urn:microsoft.com/office/officeart/2008/layout/BendingPictureSemiTransparentText"/>
    <dgm:cxn modelId="{5780C1B7-919B-464A-A228-7DC171025518}" type="presParOf" srcId="{851DCC6F-9057-43E1-A074-AF5D8ACD9D51}" destId="{3AE99EB3-5984-4B6E-9BDA-44EC561EFC1A}" srcOrd="0" destOrd="0" presId="urn:microsoft.com/office/officeart/2008/layout/BendingPictureSemiTransparentText"/>
    <dgm:cxn modelId="{2053D318-1266-4B9A-93C2-846E416F8ABC}" type="presParOf" srcId="{851DCC6F-9057-43E1-A074-AF5D8ACD9D51}" destId="{B01A19CB-0A3D-4C34-8269-4CB578592BAF}" srcOrd="1" destOrd="0" presId="urn:microsoft.com/office/officeart/2008/layout/BendingPictureSemiTransparentText"/>
    <dgm:cxn modelId="{67E4A664-5050-4392-B8A1-711AFFD065E6}" type="presParOf" srcId="{F410E183-20AE-4B8D-AAED-09D07641DFBF}" destId="{C2859F05-8949-4792-87CC-67CB0F5C9D8E}" srcOrd="3" destOrd="0" presId="urn:microsoft.com/office/officeart/2008/layout/BendingPictureSemiTransparentText"/>
    <dgm:cxn modelId="{1BA36D8C-093D-4661-ADA0-522A00BB1394}" type="presParOf" srcId="{F410E183-20AE-4B8D-AAED-09D07641DFBF}" destId="{B5DADBEF-47D5-4D56-AF30-79D5C0EE06B0}" srcOrd="4" destOrd="0" presId="urn:microsoft.com/office/officeart/2008/layout/BendingPictureSemiTransparentText"/>
    <dgm:cxn modelId="{102BDDB2-4FFE-414B-9F6D-E0B0B8FB1836}" type="presParOf" srcId="{B5DADBEF-47D5-4D56-AF30-79D5C0EE06B0}" destId="{2BB32946-4EEE-471B-941D-A2E29FD2F003}" srcOrd="0" destOrd="0" presId="urn:microsoft.com/office/officeart/2008/layout/BendingPictureSemiTransparentText"/>
    <dgm:cxn modelId="{F3BB2896-1E9A-49BD-B103-CC794ED036DF}" type="presParOf" srcId="{B5DADBEF-47D5-4D56-AF30-79D5C0EE06B0}" destId="{6BDA9A8E-1C93-4A7A-B2BD-405D23DCD4CB}" srcOrd="1" destOrd="0" presId="urn:microsoft.com/office/officeart/2008/layout/BendingPictureSemiTransparentText"/>
    <dgm:cxn modelId="{0FCFCF2C-3E7A-47F3-83C3-D895260F378D}" type="presParOf" srcId="{F410E183-20AE-4B8D-AAED-09D07641DFBF}" destId="{C3D7FE05-72C7-44EA-944C-6D7230753BB3}" srcOrd="5" destOrd="0" presId="urn:microsoft.com/office/officeart/2008/layout/BendingPictureSemiTransparentText"/>
    <dgm:cxn modelId="{D923D5AD-31F9-4D73-BC43-FA2ED6CB3CAD}" type="presParOf" srcId="{F410E183-20AE-4B8D-AAED-09D07641DFBF}" destId="{18C342A4-E924-484D-97E6-DB5B01E777E6}" srcOrd="6" destOrd="0" presId="urn:microsoft.com/office/officeart/2008/layout/BendingPictureSemiTransparentText"/>
    <dgm:cxn modelId="{BCDD67B5-31F9-4D66-BD4C-9AD9B7E3BF01}" type="presParOf" srcId="{18C342A4-E924-484D-97E6-DB5B01E777E6}" destId="{C578B9BA-7C12-41BE-AC92-E0B88A910058}" srcOrd="0" destOrd="0" presId="urn:microsoft.com/office/officeart/2008/layout/BendingPictureSemiTransparentText"/>
    <dgm:cxn modelId="{F8081C62-B163-4183-BB70-84605CB6191A}" type="presParOf" srcId="{18C342A4-E924-484D-97E6-DB5B01E777E6}" destId="{55059468-6C44-4D7F-954B-23DA7D2D4095}" srcOrd="1" destOrd="0" presId="urn:microsoft.com/office/officeart/2008/layout/BendingPictureSemiTransparentText"/>
    <dgm:cxn modelId="{36E495BF-F586-4457-AA2A-C25574085CC8}" type="presParOf" srcId="{F410E183-20AE-4B8D-AAED-09D07641DFBF}" destId="{EB4A469A-BFFE-4097-98B8-E511BCB569A7}" srcOrd="7" destOrd="0" presId="urn:microsoft.com/office/officeart/2008/layout/BendingPictureSemiTransparentText"/>
    <dgm:cxn modelId="{D25B6EAE-A9B9-4C32-B8EF-FBA3FDABE4A2}" type="presParOf" srcId="{F410E183-20AE-4B8D-AAED-09D07641DFBF}" destId="{90882596-B051-4DA3-8E5E-D544117E0560}" srcOrd="8" destOrd="0" presId="urn:microsoft.com/office/officeart/2008/layout/BendingPictureSemiTransparentText"/>
    <dgm:cxn modelId="{08449E95-51DF-46C6-B0D7-D96569E7EC8B}" type="presParOf" srcId="{90882596-B051-4DA3-8E5E-D544117E0560}" destId="{67E4385F-1F4C-4DED-8714-9141C9273BB7}" srcOrd="0" destOrd="0" presId="urn:microsoft.com/office/officeart/2008/layout/BendingPictureSemiTransparentText"/>
    <dgm:cxn modelId="{578EDFEF-6A22-4A0A-9475-AE6A792869C5}" type="presParOf" srcId="{90882596-B051-4DA3-8E5E-D544117E0560}" destId="{8307788C-3AF3-4F48-A682-C1D8A6FCBCAC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0CEE1D-CC01-4317-9470-074BE49E9052}">
      <dsp:nvSpPr>
        <dsp:cNvPr id="0" name=""/>
        <dsp:cNvSpPr/>
      </dsp:nvSpPr>
      <dsp:spPr>
        <a:xfrm>
          <a:off x="1121248" y="4316"/>
          <a:ext cx="2951321" cy="2529631"/>
        </a:xfrm>
        <a:prstGeom prst="rect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614B28C-EEB6-4387-980A-427261DFCE22}">
      <dsp:nvSpPr>
        <dsp:cNvPr id="0" name=""/>
        <dsp:cNvSpPr/>
      </dsp:nvSpPr>
      <dsp:spPr>
        <a:xfrm>
          <a:off x="1115301" y="2055753"/>
          <a:ext cx="2963215" cy="45721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500" kern="1200"/>
        </a:p>
      </dsp:txBody>
      <dsp:txXfrm>
        <a:off x="1115301" y="2055753"/>
        <a:ext cx="2963215" cy="45721"/>
      </dsp:txXfrm>
    </dsp:sp>
    <dsp:sp modelId="{3AE99EB3-5984-4B6E-9BDA-44EC561EFC1A}">
      <dsp:nvSpPr>
        <dsp:cNvPr id="0" name=""/>
        <dsp:cNvSpPr/>
      </dsp:nvSpPr>
      <dsp:spPr>
        <a:xfrm>
          <a:off x="4379543" y="4316"/>
          <a:ext cx="2951321" cy="2529631"/>
        </a:xfrm>
        <a:prstGeom prst="rect">
          <a:avLst/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01A19CB-0A3D-4C34-8269-4CB578592BAF}">
      <dsp:nvSpPr>
        <dsp:cNvPr id="0" name=""/>
        <dsp:cNvSpPr/>
      </dsp:nvSpPr>
      <dsp:spPr>
        <a:xfrm>
          <a:off x="5167088" y="2038141"/>
          <a:ext cx="1376230" cy="80946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500" kern="1200"/>
        </a:p>
      </dsp:txBody>
      <dsp:txXfrm>
        <a:off x="5167088" y="2038141"/>
        <a:ext cx="1376230" cy="80946"/>
      </dsp:txXfrm>
    </dsp:sp>
    <dsp:sp modelId="{2BB32946-4EEE-471B-941D-A2E29FD2F003}">
      <dsp:nvSpPr>
        <dsp:cNvPr id="0" name=""/>
        <dsp:cNvSpPr/>
      </dsp:nvSpPr>
      <dsp:spPr>
        <a:xfrm>
          <a:off x="7631890" y="4316"/>
          <a:ext cx="2951321" cy="2529631"/>
        </a:xfrm>
        <a:prstGeom prst="rect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BDA9A8E-1C93-4A7A-B2BD-405D23DCD4CB}">
      <dsp:nvSpPr>
        <dsp:cNvPr id="0" name=""/>
        <dsp:cNvSpPr/>
      </dsp:nvSpPr>
      <dsp:spPr>
        <a:xfrm>
          <a:off x="8679211" y="2055753"/>
          <a:ext cx="856680" cy="45721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500" kern="1200"/>
        </a:p>
      </dsp:txBody>
      <dsp:txXfrm>
        <a:off x="8679211" y="2055753"/>
        <a:ext cx="856680" cy="45721"/>
      </dsp:txXfrm>
    </dsp:sp>
    <dsp:sp modelId="{C578B9BA-7C12-41BE-AC92-E0B88A910058}">
      <dsp:nvSpPr>
        <dsp:cNvPr id="0" name=""/>
        <dsp:cNvSpPr/>
      </dsp:nvSpPr>
      <dsp:spPr>
        <a:xfrm>
          <a:off x="2747422" y="2829080"/>
          <a:ext cx="2951321" cy="2529631"/>
        </a:xfrm>
        <a:prstGeom prst="rect">
          <a:avLst/>
        </a:prstGeom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5059468-6C44-4D7F-954B-23DA7D2D4095}">
      <dsp:nvSpPr>
        <dsp:cNvPr id="0" name=""/>
        <dsp:cNvSpPr/>
      </dsp:nvSpPr>
      <dsp:spPr>
        <a:xfrm flipV="1">
          <a:off x="4150510" y="4799325"/>
          <a:ext cx="145145" cy="208105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500" kern="1200"/>
        </a:p>
      </dsp:txBody>
      <dsp:txXfrm rot="10800000">
        <a:off x="4150510" y="4799325"/>
        <a:ext cx="145145" cy="208105"/>
      </dsp:txXfrm>
    </dsp:sp>
    <dsp:sp modelId="{67E4385F-1F4C-4DED-8714-9141C9273BB7}">
      <dsp:nvSpPr>
        <dsp:cNvPr id="0" name=""/>
        <dsp:cNvSpPr/>
      </dsp:nvSpPr>
      <dsp:spPr>
        <a:xfrm>
          <a:off x="5999770" y="2829080"/>
          <a:ext cx="2951321" cy="2529631"/>
        </a:xfrm>
        <a:prstGeom prst="rect">
          <a:avLst/>
        </a:prstGeom>
        <a:blipFill dpi="0"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307788C-3AF3-4F48-A682-C1D8A6FCBCAC}">
      <dsp:nvSpPr>
        <dsp:cNvPr id="0" name=""/>
        <dsp:cNvSpPr/>
      </dsp:nvSpPr>
      <dsp:spPr>
        <a:xfrm flipH="1" flipV="1">
          <a:off x="7452572" y="4880517"/>
          <a:ext cx="45715" cy="45721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500" kern="1200"/>
        </a:p>
      </dsp:txBody>
      <dsp:txXfrm rot="10800000">
        <a:off x="7452572" y="4880517"/>
        <a:ext cx="45715" cy="457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FF6B-6925-4F0A-B40B-5ED295900C53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12A11-611F-4C72-A824-980C5390A3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2621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FF6B-6925-4F0A-B40B-5ED295900C53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12A11-611F-4C72-A824-980C5390A3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1644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FF6B-6925-4F0A-B40B-5ED295900C53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12A11-611F-4C72-A824-980C5390A3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530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FF6B-6925-4F0A-B40B-5ED295900C53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12A11-611F-4C72-A824-980C5390A3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5298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FF6B-6925-4F0A-B40B-5ED295900C53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12A11-611F-4C72-A824-980C5390A3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1167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FF6B-6925-4F0A-B40B-5ED295900C53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12A11-611F-4C72-A824-980C5390A3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9501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FF6B-6925-4F0A-B40B-5ED295900C53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12A11-611F-4C72-A824-980C5390A3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953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FF6B-6925-4F0A-B40B-5ED295900C53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12A11-611F-4C72-A824-980C5390A3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4268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FF6B-6925-4F0A-B40B-5ED295900C53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12A11-611F-4C72-A824-980C5390A3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4122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FF6B-6925-4F0A-B40B-5ED295900C53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12A11-611F-4C72-A824-980C5390A3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8752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FF6B-6925-4F0A-B40B-5ED295900C53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12A11-611F-4C72-A824-980C5390A3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4705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DFF6B-6925-4F0A-B40B-5ED295900C53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12A11-611F-4C72-A824-980C5390A3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463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4400" b="1" dirty="0" smtClean="0"/>
              <a:t>Soutenance de Projet Fin de semestre </a:t>
            </a:r>
            <a:r>
              <a:rPr lang="fr-FR" dirty="0" smtClean="0"/>
              <a:t> :</a:t>
            </a:r>
            <a:r>
              <a:rPr lang="fr-FR" u="sng" dirty="0" smtClean="0">
                <a:solidFill>
                  <a:schemeClr val="accent2"/>
                </a:solidFill>
              </a:rPr>
              <a:t>AfriTalent</a:t>
            </a:r>
            <a:endParaRPr lang="fr-FR" u="sng" dirty="0">
              <a:solidFill>
                <a:schemeClr val="accent2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2000" dirty="0" smtClean="0">
                <a:solidFill>
                  <a:schemeClr val="bg1">
                    <a:lumMod val="50000"/>
                  </a:schemeClr>
                </a:solidFill>
              </a:rPr>
              <a:t>Application web de recrutement et de mise en valeur des Talents Africains</a:t>
            </a:r>
            <a:endParaRPr lang="fr-FR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78925" y="4844955"/>
            <a:ext cx="8689075" cy="10645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2279176" y="5117910"/>
            <a:ext cx="1910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Presenter</a:t>
            </a:r>
            <a:r>
              <a:rPr lang="fr-FR" dirty="0" smtClean="0"/>
              <a:t> par:</a:t>
            </a:r>
          </a:p>
          <a:p>
            <a:r>
              <a:rPr lang="fr-FR" dirty="0" smtClean="0"/>
              <a:t>ADJA FATOU SENE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 flipH="1">
            <a:off x="5525068" y="5117909"/>
            <a:ext cx="3302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Classe :</a:t>
            </a:r>
          </a:p>
          <a:p>
            <a:r>
              <a:rPr lang="fr-FR" dirty="0" smtClean="0"/>
              <a:t>IAGE nr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8024883" y="5122795"/>
            <a:ext cx="2292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Date :</a:t>
            </a:r>
          </a:p>
          <a:p>
            <a:r>
              <a:rPr lang="fr-FR" dirty="0" smtClean="0"/>
              <a:t>28 Juin 2026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7193646"/>
      </p:ext>
    </p:extLst>
  </p:cSld>
  <p:clrMapOvr>
    <a:masterClrMapping/>
  </p:clrMapOvr>
  <p:transition spd="slow" advTm="2957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 smtClean="0"/>
              <a:t>Sommaire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1173708" y="2169993"/>
            <a:ext cx="3548417" cy="85980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 smtClean="0"/>
              <a:t>01</a:t>
            </a:r>
          </a:p>
          <a:p>
            <a:pPr algn="ctr"/>
            <a:r>
              <a:rPr lang="fr-FR" dirty="0" smtClean="0"/>
              <a:t>Présentation du projet (contexte, objectifs et public cible)</a:t>
            </a:r>
            <a:endParaRPr lang="fr-FR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7151427" y="2169993"/>
            <a:ext cx="3862316" cy="85980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 smtClean="0"/>
              <a:t>04</a:t>
            </a:r>
          </a:p>
          <a:p>
            <a:pPr algn="ctr"/>
            <a:r>
              <a:rPr lang="fr-FR" dirty="0" smtClean="0"/>
              <a:t>Réalisation Technique (bootstrap5,CSS3,JavaScript)</a:t>
            </a:r>
            <a:endParaRPr lang="fr-FR" dirty="0"/>
          </a:p>
        </p:txBody>
      </p:sp>
      <p:sp>
        <p:nvSpPr>
          <p:cNvPr id="8" name="Rectangle à coins arrondis 7"/>
          <p:cNvSpPr/>
          <p:nvPr/>
        </p:nvSpPr>
        <p:spPr>
          <a:xfrm>
            <a:off x="1173708" y="3562067"/>
            <a:ext cx="3548417" cy="102358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 smtClean="0"/>
              <a:t>02</a:t>
            </a:r>
          </a:p>
          <a:p>
            <a:pPr algn="ctr"/>
            <a:r>
              <a:rPr lang="fr-FR" dirty="0" smtClean="0"/>
              <a:t>Charte Graphique(Couleurs, Polices et inspirations)</a:t>
            </a:r>
            <a:endParaRPr lang="fr-FR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7151427" y="3562067"/>
            <a:ext cx="3862316" cy="102358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 smtClean="0"/>
              <a:t>05</a:t>
            </a:r>
          </a:p>
          <a:p>
            <a:pPr algn="ctr"/>
            <a:r>
              <a:rPr lang="fr-FR" dirty="0" smtClean="0"/>
              <a:t>Versioning &amp; Déploiement</a:t>
            </a:r>
          </a:p>
          <a:p>
            <a:pPr algn="ctr"/>
            <a:r>
              <a:rPr lang="fr-FR" dirty="0" smtClean="0"/>
              <a:t>(worflow Git et Git Hub pages)</a:t>
            </a:r>
            <a:endParaRPr lang="fr-FR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1173708" y="5117915"/>
            <a:ext cx="3548417" cy="91439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 smtClean="0"/>
              <a:t>03</a:t>
            </a:r>
          </a:p>
          <a:p>
            <a:pPr algn="ctr"/>
            <a:r>
              <a:rPr lang="fr-FR" dirty="0" smtClean="0"/>
              <a:t>Architecture(Arborescence et maquettes de l’application)</a:t>
            </a:r>
            <a:endParaRPr lang="fr-FR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7151427" y="5117915"/>
            <a:ext cx="3862316" cy="91439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 smtClean="0"/>
              <a:t>06</a:t>
            </a:r>
          </a:p>
          <a:p>
            <a:pPr algn="ctr"/>
            <a:r>
              <a:rPr lang="fr-FR" dirty="0" smtClean="0"/>
              <a:t>Difficultés, solutions et perspectives d’</a:t>
            </a:r>
            <a:r>
              <a:rPr lang="fr-FR" dirty="0" err="1" smtClean="0"/>
              <a:t>amelioration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989551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 smtClean="0"/>
              <a:t>Présentation du projet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FR" sz="2400" dirty="0" smtClean="0"/>
              <a:t>Le Contexte</a:t>
            </a:r>
          </a:p>
          <a:p>
            <a:pPr marL="0" indent="0">
              <a:buNone/>
            </a:pPr>
            <a:r>
              <a:rPr lang="fr-FR" sz="2400" dirty="0" smtClean="0"/>
              <a:t>Le recrutement Tech en Afrique acquiert une visibilité accrue pour des profils qualifies mais souvent disperses ou peu valorises en ligne.</a:t>
            </a:r>
          </a:p>
          <a:p>
            <a:pPr>
              <a:buFont typeface="Wingdings" panose="05000000000000000000" pitchFamily="2" charset="2"/>
              <a:buChar char="v"/>
            </a:pPr>
            <a:endParaRPr lang="fr-FR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fr-FR" sz="2400" dirty="0" smtClean="0"/>
              <a:t>L’objectif Principal  </a:t>
            </a:r>
          </a:p>
          <a:p>
            <a:pPr marL="0" indent="0">
              <a:buNone/>
            </a:pPr>
            <a:r>
              <a:rPr lang="fr-FR" sz="2400" dirty="0" smtClean="0"/>
              <a:t>L’objectif principal est de développer une plateforme vitrine moderne pour centraliser, valoriser et rendre immédiatement visibles les compétences des jeunes diplômes tech.</a:t>
            </a:r>
          </a:p>
          <a:p>
            <a:pPr>
              <a:buFont typeface="Wingdings" panose="05000000000000000000" pitchFamily="2" charset="2"/>
              <a:buChar char="v"/>
            </a:pPr>
            <a:endParaRPr lang="fr-FR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fr-FR" sz="2400" dirty="0" smtClean="0"/>
              <a:t>Les Publics Cibles</a:t>
            </a:r>
          </a:p>
          <a:p>
            <a:pPr marL="0" indent="0">
              <a:buNone/>
            </a:pPr>
            <a:r>
              <a:rPr lang="fr-FR" sz="2400" dirty="0" smtClean="0"/>
              <a:t>Les recruteurs a la recherche de compétences qualifies, ainsi que les jeunes diplômés souhaitant optimiser leur insertion professionnelle.</a:t>
            </a:r>
          </a:p>
        </p:txBody>
      </p:sp>
    </p:spTree>
    <p:extLst>
      <p:ext uri="{BB962C8B-B14F-4D97-AF65-F5344CB8AC3E}">
        <p14:creationId xmlns:p14="http://schemas.microsoft.com/office/powerpoint/2010/main" val="39205242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 smtClean="0"/>
              <a:t>Charte Graphique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b="1" dirty="0" smtClean="0"/>
              <a:t>Palette de couleur</a:t>
            </a:r>
          </a:p>
          <a:p>
            <a:pPr lvl="2"/>
            <a:r>
              <a:rPr lang="fr-FR" sz="2400" dirty="0" smtClean="0"/>
              <a:t>Background-color (beige): Une couleur douce et chaleureuse qui offre un excellent contraste avec le texte noir en restant moderne et professionnelle</a:t>
            </a:r>
            <a:r>
              <a:rPr lang="fr-FR" sz="1600" dirty="0" smtClean="0"/>
              <a:t>.</a:t>
            </a:r>
          </a:p>
          <a:p>
            <a:pPr lvl="2"/>
            <a:endParaRPr lang="fr-FR" sz="1600" dirty="0" smtClean="0"/>
          </a:p>
          <a:p>
            <a:pPr lvl="2"/>
            <a:r>
              <a:rPr lang="fr-FR" sz="2400" dirty="0" smtClean="0"/>
              <a:t>Couleur d’accent (Rouge): Utilisée pour mes boutons afin de capter immédiatement l’attention de l’utilisateur.</a:t>
            </a:r>
            <a:endParaRPr lang="fr-FR" sz="2400" dirty="0"/>
          </a:p>
          <a:p>
            <a:endParaRPr lang="fr-FR" sz="2400" dirty="0" smtClean="0"/>
          </a:p>
          <a:p>
            <a:pPr lvl="2"/>
            <a:r>
              <a:rPr lang="fr-FR" sz="2400" dirty="0" smtClean="0"/>
              <a:t>Couleur de contraste(noir gris fonce): Utilise pour la barre de navigation et le texte principal afin d’assurer une lisibilité optimale et une structure claire.</a:t>
            </a:r>
          </a:p>
          <a:p>
            <a:pPr marL="0" indent="0">
              <a:buNone/>
            </a:pPr>
            <a:endParaRPr lang="fr-FR" sz="2400" dirty="0" smtClean="0"/>
          </a:p>
          <a:p>
            <a:pPr lvl="2"/>
            <a:r>
              <a:rPr lang="fr-FR" sz="2200" dirty="0" smtClean="0"/>
              <a:t>Détails(Jaune OR) : Apportant une touche de prestige et d’élégance a votre identité visuelle</a:t>
            </a:r>
            <a:r>
              <a:rPr lang="fr-FR" dirty="0" smtClean="0"/>
              <a:t>.</a:t>
            </a:r>
            <a:endParaRPr lang="fr-FR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838200" y="2442949"/>
            <a:ext cx="963304" cy="38213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à coins arrondis 6"/>
          <p:cNvSpPr/>
          <p:nvPr/>
        </p:nvSpPr>
        <p:spPr>
          <a:xfrm>
            <a:off x="838200" y="3302758"/>
            <a:ext cx="963304" cy="45037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838200" y="4490113"/>
            <a:ext cx="963304" cy="464024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à coins arrondis 8"/>
          <p:cNvSpPr/>
          <p:nvPr/>
        </p:nvSpPr>
        <p:spPr>
          <a:xfrm>
            <a:off x="838200" y="5527343"/>
            <a:ext cx="963304" cy="49132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45543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 smtClean="0"/>
              <a:t>Charte Graphique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1" dirty="0" smtClean="0"/>
              <a:t>Choix Typographiques:</a:t>
            </a:r>
          </a:p>
          <a:p>
            <a:r>
              <a:rPr lang="fr-FR" u="sng" dirty="0" smtClean="0"/>
              <a:t>Typographie Titres:</a:t>
            </a:r>
          </a:p>
          <a:p>
            <a:r>
              <a:rPr lang="fr-FR" dirty="0" smtClean="0"/>
              <a:t>	Style: 'Lucida Sans', 'Lucida Sans Regular', 'Lucida Grande', 'Lucida Sans Unicode', Geneva, Verdana, sans-</a:t>
            </a:r>
            <a:r>
              <a:rPr lang="fr-FR" dirty="0" err="1" smtClean="0"/>
              <a:t>serif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	Justification: Ce choix confere un aspect moderne ,institutionnel et très lisible, idéal pour mettre en avant l’</a:t>
            </a:r>
            <a:r>
              <a:rPr lang="fr-FR" dirty="0" err="1" smtClean="0"/>
              <a:t>identite</a:t>
            </a:r>
            <a:r>
              <a:rPr lang="fr-FR" dirty="0" smtClean="0"/>
              <a:t> visuelle de la plateforme.</a:t>
            </a:r>
          </a:p>
          <a:p>
            <a:endParaRPr lang="fr-FR" dirty="0" smtClean="0"/>
          </a:p>
          <a:p>
            <a:r>
              <a:rPr lang="fr-FR" dirty="0" smtClean="0"/>
              <a:t>Typographie Corps de texte:</a:t>
            </a:r>
          </a:p>
          <a:p>
            <a:r>
              <a:rPr lang="fr-FR" dirty="0" smtClean="0"/>
              <a:t>	Style: </a:t>
            </a:r>
            <a:r>
              <a:rPr lang="en-US" dirty="0" smtClean="0"/>
              <a:t>'Times New Roman', Times, serif</a:t>
            </a:r>
          </a:p>
          <a:p>
            <a:r>
              <a:rPr lang="en-US" dirty="0" smtClean="0"/>
              <a:t>	Justification: Rigueur, autorite et confort de lecture optimal pour les recruteurs.</a:t>
            </a: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955344" y="2178169"/>
            <a:ext cx="82861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38428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fr-FR" b="1" u="sng" dirty="0" smtClean="0"/>
              <a:t>Architecture</a:t>
            </a:r>
            <a:endParaRPr lang="fr-FR" b="1" u="sng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0909117"/>
              </p:ext>
            </p:extLst>
          </p:nvPr>
        </p:nvGraphicFramePr>
        <p:xfrm>
          <a:off x="493486" y="1494970"/>
          <a:ext cx="11698514" cy="5363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79730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 smtClean="0"/>
              <a:t>Points Techniques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b="1" dirty="0" smtClean="0"/>
              <a:t>Structure &amp; Squelette(HTML5)</a:t>
            </a:r>
            <a:r>
              <a:rPr lang="fr-FR" dirty="0" smtClean="0"/>
              <a:t>:</a:t>
            </a:r>
            <a:r>
              <a:rPr lang="fr-FR" sz="2400" dirty="0" smtClean="0"/>
              <a:t>Utilisation de balises sémantiques pour une meilleure accessibilité et indexation.</a:t>
            </a:r>
          </a:p>
          <a:p>
            <a:pPr marL="0" indent="0">
              <a:buNone/>
            </a:pPr>
            <a:endParaRPr lang="fr-FR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 smtClean="0"/>
              <a:t>Mise en forme (CSS3 &amp; Flexbox</a:t>
            </a:r>
            <a:r>
              <a:rPr lang="fr-FR" dirty="0" smtClean="0"/>
              <a:t>): </a:t>
            </a:r>
            <a:r>
              <a:rPr lang="fr-FR" sz="2400" dirty="0" smtClean="0"/>
              <a:t>Gestion de la disposition pour garantir un design fluide et moderne.</a:t>
            </a:r>
          </a:p>
          <a:p>
            <a:pPr marL="0" indent="0">
              <a:buNone/>
            </a:pPr>
            <a:endParaRPr lang="fr-FR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 smtClean="0"/>
              <a:t>Framework(Bootstrsp5):</a:t>
            </a:r>
            <a:r>
              <a:rPr lang="fr-FR" dirty="0" smtClean="0"/>
              <a:t> </a:t>
            </a:r>
            <a:r>
              <a:rPr lang="fr-FR" sz="2400" dirty="0" smtClean="0"/>
              <a:t>Intégration de composants (navbars, grilles, carousels) pour assurer une réactivité parfaite sur tous les terminaux.</a:t>
            </a:r>
          </a:p>
          <a:p>
            <a:pPr marL="0" indent="0">
              <a:buNone/>
            </a:pPr>
            <a:endParaRPr lang="fr-FR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 smtClean="0"/>
              <a:t>Développement &amp; Visionnage(Git/ GitHub)</a:t>
            </a:r>
            <a:r>
              <a:rPr lang="fr-FR" dirty="0" smtClean="0"/>
              <a:t>: </a:t>
            </a:r>
            <a:r>
              <a:rPr lang="fr-FR" sz="2400" dirty="0" smtClean="0"/>
              <a:t>Gestion du code source tout au long des 10 étapes du projet.</a:t>
            </a:r>
          </a:p>
          <a:p>
            <a:pPr marL="0" indent="0">
              <a:buNone/>
            </a:pP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9069010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b="1" u="sng" dirty="0" smtClean="0"/>
              <a:t>Git Hub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06918"/>
            <a:ext cx="11988800" cy="5827711"/>
          </a:xfrm>
        </p:spPr>
        <p:txBody>
          <a:bodyPr>
            <a:normAutofit/>
          </a:bodyPr>
          <a:lstStyle/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Chaque Commit correspond a une étape du développement.</a:t>
            </a:r>
            <a:endParaRPr lang="fr-FR" dirty="0"/>
          </a:p>
          <a:p>
            <a:pPr marL="0" indent="0">
              <a:buNone/>
            </a:pPr>
            <a:r>
              <a:rPr lang="fr-FR" dirty="0" smtClean="0"/>
              <a:t>Workflow Git: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sz="2400" b="1" i="1" dirty="0" smtClean="0"/>
              <a:t>Lien GitHub pages: https://adjafatou-sene.github.io/SENE-AdjaFatou-AfriTalent/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3926114" y="1128373"/>
            <a:ext cx="4339771" cy="2670628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261257" y="5109030"/>
            <a:ext cx="11092543" cy="75474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VS Code -&gt; Terminal -&gt; git status -&gt; git add . -&gt; git status -&gt; git commit –m -&gt; git push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7241586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Difficultés rencontres et solutions</a:t>
            </a:r>
            <a:endParaRPr lang="fr-FR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3988217"/>
              </p:ext>
            </p:extLst>
          </p:nvPr>
        </p:nvGraphicFramePr>
        <p:xfrm>
          <a:off x="838200" y="1825625"/>
          <a:ext cx="10515600" cy="318180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57800"/>
                <a:gridCol w="5257800"/>
              </a:tblGrid>
              <a:tr h="714681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Difficultes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Solutions</a:t>
                      </a:r>
                      <a:endParaRPr lang="fr-FR" dirty="0"/>
                    </a:p>
                  </a:txBody>
                  <a:tcPr/>
                </a:tc>
              </a:tr>
              <a:tr h="1233561">
                <a:tc>
                  <a:txBody>
                    <a:bodyPr/>
                    <a:lstStyle/>
                    <a:p>
                      <a:r>
                        <a:rPr lang="fr-FR" dirty="0" smtClean="0"/>
                        <a:t>Le site n’était pas responsive sur</a:t>
                      </a:r>
                      <a:r>
                        <a:rPr lang="fr-FR" baseline="0" dirty="0" smtClean="0"/>
                        <a:t> mobile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Utilisation des media queries,</a:t>
                      </a:r>
                      <a:r>
                        <a:rPr lang="fr-FR" baseline="0" dirty="0" smtClean="0"/>
                        <a:t> Flexbox, Bootstrap et ajustements des tailles des éléments</a:t>
                      </a:r>
                      <a:endParaRPr lang="fr-FR" dirty="0"/>
                    </a:p>
                  </a:txBody>
                  <a:tcPr/>
                </a:tc>
              </a:tr>
              <a:tr h="1233561">
                <a:tc>
                  <a:txBody>
                    <a:bodyPr/>
                    <a:lstStyle/>
                    <a:p>
                      <a:r>
                        <a:rPr lang="fr-FR" dirty="0" smtClean="0"/>
                        <a:t>Les animations fade-in faisaient disparaitre le contenu.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Corrections des classes CSS et du Codes JavaScript pour afficher les elements au bon moments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38200" y="5471886"/>
            <a:ext cx="10700657" cy="827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 smtClean="0"/>
              <a:t>Ces difficultés m’ont permis d’</a:t>
            </a:r>
            <a:r>
              <a:rPr lang="fr-FR" sz="2000" dirty="0" err="1" smtClean="0"/>
              <a:t>ameliorer</a:t>
            </a:r>
            <a:r>
              <a:rPr lang="fr-FR" sz="2000" dirty="0" smtClean="0"/>
              <a:t> mes compétences en CSS , JavaScript ainsi que Bootstrap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8490859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 smtClean="0"/>
              <a:t>Ressources et Documentation utilisées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MDN Web Docs</a:t>
            </a:r>
            <a:r>
              <a:rPr lang="fr-FR" dirty="0" smtClean="0"/>
              <a:t>: documentions Html, Css, Javascript.</a:t>
            </a:r>
          </a:p>
          <a:p>
            <a:r>
              <a:rPr lang="fr-FR" b="1" dirty="0" smtClean="0"/>
              <a:t>Bootstrap 5 </a:t>
            </a:r>
            <a:r>
              <a:rPr lang="fr-FR" dirty="0" smtClean="0"/>
              <a:t>: composants (navbar, cartes, boutons, grille).</a:t>
            </a:r>
          </a:p>
          <a:p>
            <a:r>
              <a:rPr lang="fr-FR" b="1" dirty="0" smtClean="0"/>
              <a:t>Font Awesome</a:t>
            </a:r>
            <a:r>
              <a:rPr lang="fr-FR" dirty="0" smtClean="0"/>
              <a:t>: icones</a:t>
            </a:r>
          </a:p>
          <a:p>
            <a:r>
              <a:rPr lang="fr-FR" b="1" dirty="0" smtClean="0"/>
              <a:t>Bootstrap icon</a:t>
            </a:r>
          </a:p>
          <a:p>
            <a:r>
              <a:rPr lang="fr-FR" b="1" dirty="0" smtClean="0"/>
              <a:t>Unsplash/ Pexels </a:t>
            </a:r>
            <a:r>
              <a:rPr lang="fr-FR" dirty="0" smtClean="0"/>
              <a:t>: images libres de droits.</a:t>
            </a:r>
          </a:p>
          <a:p>
            <a:r>
              <a:rPr lang="fr-FR" b="1" dirty="0" smtClean="0"/>
              <a:t>ChatGPT:</a:t>
            </a:r>
            <a:r>
              <a:rPr lang="fr-FR" dirty="0" smtClean="0"/>
              <a:t> aide au débogage, explication du code Javascript et amelioration du responsive.</a:t>
            </a:r>
          </a:p>
          <a:p>
            <a:pPr marL="0" indent="0">
              <a:buNone/>
            </a:pPr>
            <a:r>
              <a:rPr lang="fr-FR" sz="2400" dirty="0" smtClean="0"/>
              <a:t>Ces ressources m’ont permis de développer le projet en suivant les bonnes pratiques du développement Web et de résoudre les difficultés rencontrées.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93177448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 smtClean="0"/>
              <a:t>Démonstration du site AfriTalent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fr-FR" dirty="0" smtClean="0"/>
              <a:t>Page d’accueil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 smtClean="0"/>
              <a:t>Navigation entre les pages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 smtClean="0"/>
              <a:t>Filtres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 smtClean="0"/>
              <a:t>Cartes des Talents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 smtClean="0"/>
              <a:t>Mode Sombre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 smtClean="0"/>
              <a:t>Responsive sur mobile et tablette</a:t>
            </a:r>
          </a:p>
        </p:txBody>
      </p:sp>
    </p:spTree>
    <p:extLst>
      <p:ext uri="{BB962C8B-B14F-4D97-AF65-F5344CB8AC3E}">
        <p14:creationId xmlns:p14="http://schemas.microsoft.com/office/powerpoint/2010/main" val="425524657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 smtClean="0"/>
              <a:t>Conclusion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Le projet AfriTalent m’as permis de concevoir un site fonctionnel en utilisant HTML, CSS, Bootstrap, Javascript et Git/GitHub. Au cours de sa réalisation, j’ai appris a créer une interface moderne, responsive et agréable a utiliser , tout en mettant en pratique les différentes étapes de développement Web.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548319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 smtClean="0"/>
              <a:t>Perspectives d’amelioration 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Connecter e site a une base de données.</a:t>
            </a:r>
          </a:p>
          <a:p>
            <a:r>
              <a:rPr lang="fr-FR" dirty="0" smtClean="0"/>
              <a:t>Ajouter un systèmes de favoris ou de commentaires.</a:t>
            </a:r>
          </a:p>
          <a:p>
            <a:r>
              <a:rPr lang="fr-FR" dirty="0" smtClean="0"/>
              <a:t>Permettre aux talents de publier directement leur profils.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2959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633</Words>
  <Application>Microsoft Office PowerPoint</Application>
  <PresentationFormat>Grand écran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Thème Office</vt:lpstr>
      <vt:lpstr>Soutenance de Projet Fin de semestre  :AfriTalent</vt:lpstr>
      <vt:lpstr>Sommaire</vt:lpstr>
      <vt:lpstr>Présentation du projet</vt:lpstr>
      <vt:lpstr>Charte Graphique</vt:lpstr>
      <vt:lpstr>Charte Graphique</vt:lpstr>
      <vt:lpstr>Architecture</vt:lpstr>
      <vt:lpstr>Points Techniques</vt:lpstr>
      <vt:lpstr>Git Hub</vt:lpstr>
      <vt:lpstr>Difficultés rencontres et solutions</vt:lpstr>
      <vt:lpstr>Ressources et Documentation utilisées</vt:lpstr>
      <vt:lpstr>Démonstration du site AfriTalent</vt:lpstr>
      <vt:lpstr>Conclusion</vt:lpstr>
      <vt:lpstr>Perspectives d’amelioration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de Projet Fin de semestre : AfriTalent</dc:title>
  <dc:creator>Compte Microsoft</dc:creator>
  <cp:lastModifiedBy>Compte Microsoft</cp:lastModifiedBy>
  <cp:revision>33</cp:revision>
  <dcterms:created xsi:type="dcterms:W3CDTF">2026-06-28T19:09:54Z</dcterms:created>
  <dcterms:modified xsi:type="dcterms:W3CDTF">2026-06-28T23:24:43Z</dcterms:modified>
</cp:coreProperties>
</file>